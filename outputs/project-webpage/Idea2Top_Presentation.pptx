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000"/>
            <a:ext cx="80000" cy="550000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00000" y="800000"/>
            <a:ext cx="220000" cy="220000"/>
          </a:xfrm>
          <a:prstGeom prst="ellipse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00000" y="1400000"/>
            <a:ext cx="120000" cy="12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0000" y="1200000"/>
            <a:ext cx="80000" cy="80000"/>
          </a:xfrm>
          <a:prstGeom prst="ellipse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Idea2Top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A8FF"/>
                </a:solidFill>
                <a:latin typeface="Microsoft YaHei"/>
              </a:defRPr>
            </a:pPr>
            <a:r>
              <a:t>研究想法 → 顶刊实现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0" y="340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Microsoft YaHei"/>
              </a:defRPr>
            </a:pPr>
            <a:r>
              <a:t>将研究方法想法自动转化为顶刊级可复现实现的智能框架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000" y="3800000"/>
            <a:ext cx="9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Microsoft YaHei"/>
              </a:defRPr>
            </a:pPr>
            <a:r>
              <a:t>An intelligent framework for automated research methodology 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0000" y="4800000"/>
            <a:ext cx="300000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000" y="51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A8FF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0000" y="55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Microsoft YaHei"/>
              </a:defRPr>
            </a:pPr>
            <a:r>
              <a:t>专业智能体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000" y="51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A8FF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000" y="55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Microsoft YaHei"/>
              </a:defRPr>
            </a:pPr>
            <a:r>
              <a:t>算法知识库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51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A8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55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Microsoft YaHei"/>
              </a:defRPr>
            </a:pPr>
            <a:r>
              <a:t>核心流水线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0000" y="5100000"/>
            <a:ext cx="2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A8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0000" y="5500000"/>
            <a:ext cx="2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Microsoft YaHei"/>
              </a:defRPr>
            </a:pPr>
            <a:r>
              <a:t>领域覆盖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00000" cy="40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" y="6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项目简介 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7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02C"/>
                </a:solidFill>
                <a:latin typeface="Microsoft YaHei"/>
              </a:defRPr>
            </a:pPr>
            <a:r>
              <a:t>Idea2Top 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300000"/>
            <a:ext cx="50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Microsoft YaHei"/>
              </a:defRPr>
            </a:pPr>
            <a:r>
              <a:t>Idea2Top 是一个将研究方法想法自动转化为顶刊级</a:t>
            </a:r>
            <a:br/>
            <a:r>
              <a:t>可复现实现的智能框架。</a:t>
            </a:r>
            <a:br/>
            <a:br/>
            <a:r>
              <a:t>用户用自然语言描述研究想法，系统自动完成：</a:t>
            </a:r>
            <a:br/>
            <a:r>
              <a:t>• 文献对标 — 检索顶刊实现标准</a:t>
            </a:r>
            <a:br/>
            <a:r>
              <a:t>• 方案设计 — 数学建模与识别策略</a:t>
            </a:r>
            <a:br/>
            <a:r>
              <a:t>• 代码生成 — 顶刊级可运行实现</a:t>
            </a:r>
            <a:br/>
            <a:r>
              <a:t>• 实验验证 — 物理运行与对抗式QA</a:t>
            </a:r>
            <a:br/>
            <a:r>
              <a:t>• 交付 — 代码+图表+复现说明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000" y="800000"/>
            <a:ext cx="2500000" cy="20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000" y="800000"/>
            <a:ext cx="25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0000" y="110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0" y="17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02C"/>
                </a:solidFill>
                <a:latin typeface="Microsoft YaHei"/>
              </a:defRPr>
            </a:pPr>
            <a:r>
              <a:t>专业智能体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210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Specialized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00000" y="800000"/>
            <a:ext cx="2500000" cy="20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00000" y="800000"/>
            <a:ext cx="25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0000" y="110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0000" y="17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02C"/>
                </a:solidFill>
                <a:latin typeface="Microsoft YaHei"/>
              </a:defRPr>
            </a:pPr>
            <a:r>
              <a:t>算法知识库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0000" y="210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Algorithms 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000" y="3200000"/>
            <a:ext cx="2500000" cy="20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000" y="3200000"/>
            <a:ext cx="2500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0000" y="350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0000" y="41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02C"/>
                </a:solidFill>
                <a:latin typeface="Microsoft YaHei"/>
              </a:defRPr>
            </a:pPr>
            <a:r>
              <a:t>核心流水线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50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Core Workflows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0000" y="3200000"/>
            <a:ext cx="2500000" cy="20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00000" y="3200000"/>
            <a:ext cx="2500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0000" y="350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0000" y="4100000"/>
            <a:ext cx="2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02C"/>
                </a:solidFill>
                <a:latin typeface="Microsoft YaHei"/>
              </a:defRPr>
            </a:pPr>
            <a:r>
              <a:t>领域覆盖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0000" y="450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Domain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系统架构  ARCHITECTURE  —  三层多智能体分层协作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20000" y="800000"/>
            <a:ext cx="2800000" cy="900000"/>
          </a:xfrm>
          <a:prstGeom prst="roundRect">
            <a:avLst/>
          </a:prstGeom>
          <a:solidFill>
            <a:srgbClr val="1A365D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0000" y="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Secretary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0000" y="1180000"/>
            <a:ext cx="2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EDD"/>
                </a:solidFill>
                <a:latin typeface="Microsoft YaHei"/>
              </a:defRPr>
            </a:pPr>
            <a:r>
              <a:t>秘书 Agent  |  任务分解守门人</a:t>
            </a:r>
            <a:br/>
            <a:r>
              <a:t>分解 → 确认 → 调度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20000" y="1700000"/>
            <a:ext cx="0" cy="300000"/>
          </a:xfrm>
          <a:prstGeom prst="line">
            <a:avLst/>
          </a:prstGeom>
          <a:ln w="25400">
            <a:solidFill>
              <a:srgbClr val="2A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20000" y="2100000"/>
            <a:ext cx="2800000" cy="900000"/>
          </a:xfrm>
          <a:prstGeom prst="roundRect">
            <a:avLst/>
          </a:prstGeom>
          <a:solidFill>
            <a:srgbClr val="1A365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0000" y="22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0000" y="2480000"/>
            <a:ext cx="2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BEDD"/>
                </a:solidFill>
                <a:latin typeface="Microsoft YaHei"/>
              </a:defRPr>
            </a:pPr>
            <a:r>
              <a:t>总协调人  |  意图识别 &amp; 管线编排</a:t>
            </a:r>
            <a:br/>
            <a:r>
              <a:t>路由调度 → 上下文管理 → 质量门禁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20000" y="3000000"/>
            <a:ext cx="0" cy="300000"/>
          </a:xfrm>
          <a:prstGeom prst="line">
            <a:avLst/>
          </a:prstGeom>
          <a:ln w="25400">
            <a:solidFill>
              <a:srgbClr val="2A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0000" y="3350000"/>
            <a:ext cx="11200000" cy="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Literature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文献检索与综述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3 Agents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49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9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4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Topic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前沿探测与选题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3 Agents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8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3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3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Data &amp; Viz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数据清洗与可视化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4 Agents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2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97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Experiment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实验设计与优化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3 Agents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6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21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1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6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Algorithm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算法创造流水线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5 Agents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80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5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5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0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Paper Format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论文格式与排版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3 Agents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04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69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9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4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Research QA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4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科研问答与推导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3 Agents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8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893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3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Kaggle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8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竞赛端到端流水线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8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7 Agents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52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0170000" y="3450000"/>
            <a:ext cx="1180000" cy="1100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170000" y="3450000"/>
            <a:ext cx="118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20000" y="3570000"/>
            <a:ext cx="108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365D"/>
                </a:solidFill>
                <a:latin typeface="Microsoft YaHei"/>
              </a:defRPr>
            </a:pPr>
            <a:r>
              <a:t>Knowledge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0000" y="3870000"/>
            <a:ext cx="10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4A5568"/>
                </a:solidFill>
                <a:latin typeface="Microsoft YaHei"/>
              </a:defRPr>
            </a:pPr>
            <a:r>
              <a:t>知识库管理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20000" y="4250000"/>
            <a:ext cx="10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8FF"/>
                </a:solidFill>
                <a:latin typeface="Microsoft YaHei"/>
              </a:defRPr>
            </a:pPr>
            <a:r>
              <a:t>1 Agents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760000" y="3350000"/>
            <a:ext cx="0" cy="100000"/>
          </a:xfrm>
          <a:prstGeom prst="line">
            <a:avLst/>
          </a:prstGeom>
          <a:ln w="12700">
            <a:solidFill>
              <a:srgbClr val="3A5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核心工作流  WORKFLOW  —  从想法到交付的完整流水线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900000"/>
            <a:ext cx="1750000" cy="38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5000" y="1200000"/>
            <a:ext cx="500000" cy="500000"/>
          </a:xfrm>
          <a:prstGeom prst="ellipse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000" y="128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1900000"/>
            <a:ext cx="1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解析与对标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000" y="2400000"/>
            <a:ext cx="159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确认核心方法，检索顶刊</a:t>
            </a:r>
            <a:br/>
            <a:r>
              <a:t>标准实现规范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0000" y="2400000"/>
            <a:ext cx="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8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00000" y="900000"/>
            <a:ext cx="1750000" cy="38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25000" y="1200000"/>
            <a:ext cx="500000" cy="5000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000" y="128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0000" y="1900000"/>
            <a:ext cx="1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方案设计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0000" y="2400000"/>
            <a:ext cx="159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模型设定、识别策略</a:t>
            </a:r>
            <a:br/>
            <a:r>
              <a:t>估计方法、假设条件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0000" y="2400000"/>
            <a:ext cx="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8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0000" y="900000"/>
            <a:ext cx="1750000" cy="38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75000" y="1200000"/>
            <a:ext cx="500000" cy="500000"/>
          </a:xfrm>
          <a:prstGeom prst="ellipse">
            <a:avLst/>
          </a:prstGeom>
          <a:solidFill>
            <a:srgbClr val="00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5000" y="128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0000" y="1900000"/>
            <a:ext cx="1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0000" y="2400000"/>
            <a:ext cx="159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顶刊级可运行代码</a:t>
            </a:r>
            <a:br/>
            <a:r>
              <a:t>完整测试与使用示例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0000" y="2400000"/>
            <a:ext cx="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8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0000" y="900000"/>
            <a:ext cx="1750000" cy="38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25000" y="1200000"/>
            <a:ext cx="500000" cy="50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5000" y="128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0000" y="1900000"/>
            <a:ext cx="1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实验与验证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000" y="2400000"/>
            <a:ext cx="159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物理运行验证</a:t>
            </a:r>
            <a:br/>
            <a:r>
              <a:t>不信任AI口头报告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0000" y="2400000"/>
            <a:ext cx="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8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50000" y="900000"/>
            <a:ext cx="1750000" cy="38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75000" y="1200000"/>
            <a:ext cx="500000" cy="500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000" y="128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0000" y="1900000"/>
            <a:ext cx="1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对抗式QA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0000" y="2400000"/>
            <a:ext cx="159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Critic严格审查</a:t>
            </a:r>
            <a:br/>
            <a:r>
              <a:t>最多5轮循环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0000" y="2400000"/>
            <a:ext cx="8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8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0000" y="900000"/>
            <a:ext cx="1750000" cy="38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25000" y="1200000"/>
            <a:ext cx="500000" cy="500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25000" y="128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0000" y="1900000"/>
            <a:ext cx="16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0000" y="2400000"/>
            <a:ext cx="159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代码+图表+方法</a:t>
            </a:r>
            <a:br/>
            <a:r>
              <a:t>复现说明 质量&gt;=90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智能体集群  AGENT CLUSTER  —  30+ 专业智能体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8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00000"/>
            <a:ext cx="20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10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Secretary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6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任务分解守门人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0000" y="8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70000" y="800000"/>
            <a:ext cx="20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0000" y="10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0000" y="16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总协调 &amp; 编排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000" y="8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90000" y="800000"/>
            <a:ext cx="20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000" y="10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Literature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000" y="16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文献检索与综述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0000" y="8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10000" y="800000"/>
            <a:ext cx="20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0000" y="10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Topic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000" y="16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选题与前沿分析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000" y="31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000" y="31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000" y="33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Data &amp; Viz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000" y="39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数据清洗与可视化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0000" y="31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70000" y="31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0000" y="33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0000" y="39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实验设计与优化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0000" y="31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0000" y="31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000" y="33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Algorithm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000" y="39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算法创造管线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0000" y="31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10000" y="31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0000" y="33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Paper Format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0000" y="39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论文格式与排版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0000" y="54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50000" y="54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000" y="56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Research QA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000" y="62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科研问答与推导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70000" y="54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70000" y="54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70000" y="56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Kaggle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70000" y="62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竞赛流水线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90000" y="5400000"/>
            <a:ext cx="2000000" cy="22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90000" y="5400000"/>
            <a:ext cx="20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0000" y="5600000"/>
            <a:ext cx="1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65D"/>
                </a:solidFill>
                <a:latin typeface="Microsoft YaHei"/>
              </a:defRPr>
            </a:pPr>
            <a:r>
              <a:t>Knowledge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000" y="6200000"/>
            <a:ext cx="1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知识库管理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知识库  KNOWLEDGE  —  50+ 算法与方法的知识沉淀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800000"/>
            <a:ext cx="3700000" cy="27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800000"/>
            <a:ext cx="3700000" cy="381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0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因果推断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3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Causal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800000"/>
            <a:ext cx="3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•  DID</a:t>
            </a:r>
            <a:br/>
            <a:r>
              <a:t>•  Causal Forest</a:t>
            </a:r>
            <a:br/>
            <a:r>
              <a:t>•  DML</a:t>
            </a:r>
            <a:br/>
            <a:r>
              <a:t>•  IV</a:t>
            </a:r>
            <a:br/>
            <a:r>
              <a:t>•  Conformal Pred.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0000" y="800000"/>
            <a:ext cx="3700000" cy="27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0000" y="800000"/>
            <a:ext cx="3700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0" y="10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机器学习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13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800000"/>
            <a:ext cx="3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•  XGBoost</a:t>
            </a:r>
            <a:br/>
            <a:r>
              <a:t>•  Random Forest</a:t>
            </a:r>
            <a:br/>
            <a:r>
              <a:t>•  SVM</a:t>
            </a:r>
            <a:br/>
            <a:r>
              <a:t>•  Clustering</a:t>
            </a:r>
            <a:br/>
            <a:r>
              <a:t>•  DR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0000" y="800000"/>
            <a:ext cx="3700000" cy="27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0000" y="800000"/>
            <a:ext cx="3700000" cy="38100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0000" y="10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时序与预测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0000" y="13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Time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0000" y="1800000"/>
            <a:ext cx="3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•  ARIMA</a:t>
            </a:r>
            <a:br/>
            <a:r>
              <a:t>•  Prophet</a:t>
            </a:r>
            <a:br/>
            <a:r>
              <a:t>•  LSTM</a:t>
            </a:r>
            <a:br/>
            <a:r>
              <a:t>•  tsfresh</a:t>
            </a:r>
            <a:br/>
            <a:r>
              <a:t>•  Flow 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000" y="3600000"/>
            <a:ext cx="3700000" cy="27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" y="3600000"/>
            <a:ext cx="37000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38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41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Deep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" y="4600000"/>
            <a:ext cx="3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•  Autoencoder</a:t>
            </a:r>
            <a:br/>
            <a:r>
              <a:t>•  FlashAttention</a:t>
            </a:r>
            <a:br/>
            <a:r>
              <a:t>•  Enformer</a:t>
            </a:r>
            <a:br/>
            <a:r>
              <a:t>•  Geneformer</a:t>
            </a:r>
            <a:br/>
            <a:r>
              <a:t>•  AlphaFold3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70000" y="3600000"/>
            <a:ext cx="3700000" cy="27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70000" y="3600000"/>
            <a:ext cx="370000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0000" y="38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优化运筹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0" y="41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Optimization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0" y="4600000"/>
            <a:ext cx="3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•  Adaptive ADMM</a:t>
            </a:r>
            <a:br/>
            <a:r>
              <a:t>•  Physarum Net</a:t>
            </a:r>
            <a:br/>
            <a:r>
              <a:t>•  Bayesian DRO</a:t>
            </a:r>
            <a:br/>
            <a:r>
              <a:t>•  Bilevel Opt.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0000" y="3600000"/>
            <a:ext cx="3700000" cy="2700000"/>
          </a:xfrm>
          <a:prstGeom prst="round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0000" y="3600000"/>
            <a:ext cx="370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40000" y="38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02C"/>
                </a:solidFill>
                <a:latin typeface="Microsoft YaHei"/>
              </a:defRPr>
            </a:pPr>
            <a:r>
              <a:t>贝叶斯统计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0000" y="4150000"/>
            <a:ext cx="34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Bayesian &amp; Stats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0000" y="4600000"/>
            <a:ext cx="34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Microsoft YaHei"/>
              </a:defRPr>
            </a:pPr>
            <a:r>
              <a:t>•  Bayesian DRO</a:t>
            </a:r>
            <a:br/>
            <a:r>
              <a:t>•  Conformal Q</a:t>
            </a:r>
            <a:br/>
            <a:r>
              <a:t>•  Knockoffs</a:t>
            </a:r>
            <a:br/>
            <a:r>
              <a:t>•  Meta-Learners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0000" y="5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使用指南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95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Microsoft YaHei"/>
              </a:defRPr>
            </a:pPr>
            <a:r>
              <a:t>三步上手  |  Get started in 3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600000"/>
            <a:ext cx="3400000" cy="4000000"/>
          </a:xfrm>
          <a:prstGeom prst="roundRect">
            <a:avLst/>
          </a:prstGeom>
          <a:solidFill>
            <a:srgbClr val="152538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00000" y="1900000"/>
            <a:ext cx="600000" cy="600000"/>
          </a:xfrm>
          <a:prstGeom prst="ellipse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0" y="198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000" y="280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提出研究想法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320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A8FF"/>
                </a:solidFill>
                <a:latin typeface="Microsoft YaHei"/>
              </a:defRPr>
            </a:pPr>
            <a:r>
              <a:t>Propose Your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0000" y="3600000"/>
            <a:ext cx="24000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00" y="3800000"/>
            <a:ext cx="3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用自然语言描述你的研究方法想法。</a:t>
            </a:r>
            <a:br/>
            <a:r>
              <a:t>例如：设计一个异质性处理效应的稳健估计量</a:t>
            </a:r>
            <a:br/>
            <a:br/>
            <a:r>
              <a:t>系统支持：研究想法 / 数据分析</a:t>
            </a:r>
            <a:br/>
            <a:r>
              <a:t>/ 竞赛任务 / 文献综述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0000" y="1600000"/>
            <a:ext cx="3400000" cy="4000000"/>
          </a:xfrm>
          <a:prstGeom prst="roundRect">
            <a:avLst/>
          </a:prstGeom>
          <a:solidFill>
            <a:srgbClr val="152538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00000" y="1900000"/>
            <a:ext cx="600000" cy="600000"/>
          </a:xfrm>
          <a:prstGeom prst="ellipse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0000" y="198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280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确认分解方案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0000" y="320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A8FF"/>
                </a:solidFill>
                <a:latin typeface="Microsoft YaHei"/>
              </a:defRPr>
            </a:pPr>
            <a:r>
              <a:t>Review the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000" y="3600000"/>
            <a:ext cx="24000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0" y="3800000"/>
            <a:ext cx="3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秘书Agent自动分析任务并输出分解方案。</a:t>
            </a:r>
            <a:br/>
            <a:r>
              <a:t>检查子任务列表，确认工具/配色/规模/格式。</a:t>
            </a:r>
            <a:br/>
            <a:br/>
            <a:r>
              <a:t>确认后 Orchestrator 开始调度执行。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0000" y="1600000"/>
            <a:ext cx="3400000" cy="4000000"/>
          </a:xfrm>
          <a:prstGeom prst="roundRect">
            <a:avLst/>
          </a:prstGeom>
          <a:solidFill>
            <a:srgbClr val="152538"/>
          </a:solidFill>
          <a:ln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00000" y="1900000"/>
            <a:ext cx="600000" cy="600000"/>
          </a:xfrm>
          <a:prstGeom prst="ellipse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00" y="198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0000" y="2800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获取顶刊级交付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0000" y="3200000"/>
            <a:ext cx="3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A8FF"/>
                </a:solidFill>
                <a:latin typeface="Microsoft YaHei"/>
              </a:defRPr>
            </a:pPr>
            <a:r>
              <a:t>Get Your 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0000" y="3600000"/>
            <a:ext cx="24000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00000" y="3800000"/>
            <a:ext cx="3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系统自动完成：文献对标 → 方案设计</a:t>
            </a:r>
            <a:br/>
            <a:r>
              <a:t>→ 代码生成 → 实验验证 → 对抗式QA</a:t>
            </a:r>
            <a:br/>
            <a:br/>
            <a:r>
              <a:t>交付：可运行代码+图表+复现说明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0000" y="5800000"/>
            <a:ext cx="9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Microsoft YaHei"/>
              </a:defRPr>
            </a:pPr>
            <a:r>
              <a:t>只需用自然语言描述，剩下的交给 Agent 集群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0000" y="2500000"/>
            <a:ext cx="110000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00" y="22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30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A8FF"/>
                </a:solidFill>
                <a:latin typeface="Microsoft YaHei"/>
              </a:defRPr>
            </a:pPr>
            <a:r>
              <a:t>Idea2Top  —  研究想法 → 顶刊实现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0000" y="38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Microsoft YaHei"/>
              </a:defRPr>
            </a:pPr>
            <a:r>
              <a:t>数学建模半自动 · Research Assistant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0000" y="42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  <a:latin typeface="Microsoft YaHei"/>
              </a:defRPr>
            </a:pPr>
            <a:r>
              <a:t>Powered by Claude Multi-Agent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5200000"/>
            <a:ext cx="110000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54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Microsoft YaHei"/>
              </a:defRPr>
            </a:pPr>
            <a:r>
              <a:t>© 2026 Idea2Top Research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